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Hello. Today I will present the Airspace Intelligence Platform. I built this containerized pipeline to ingest live flight data, process it in real-time, store it reliably, and detect statistical anomalies using machine learning. It integrates a complete modern data engineering stack.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with live flight data is that it is noisy, ephemeral, and heavily rate-limited. My goal was to build a system that polls efficiently without hitting API limits, separates ingestion from processing using Kafka, and stores data cleanly without duplicates. The end result is a highly observable and reliable data foundation.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end-to-end architecture. Data flows horizontally from Python ingestion into Kafka for buffering, then PySpark streams and cleans it. Processed data is saved to Parquet and bulk-loaded into PostgreSQL. Airflow sits on top to orchestrate batch tasks, and Grafana sits at the bottom to monitor pipeline health without interfering with the data flow.</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ingestion stage, Python polls the API and applies strict validation rules. Crucially, it deduplicates the data in memory—if a plane hasn't moved, we don't process it further. All invalid rows are logged with clear rejection reasons, never silently dropped.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Kafka acts as a buffer. By keying messages by aircraft ID, we ensure ordered processing. PySpark then consumes this stream, parses the JSON safely, adds derived metrics like speed in km/h, and writes clean Parquet files every 30 seconds.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storage, Airflow bulk-loads the Spark Parquet files into PostgreSQL. This process is fully idempotent using ON CONFLICT rules, meaning we never get duplicates. Airflow monitors pipeline health through file timestamps rather than making redundant API calls.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Inside Postgres, 8 views power the analytics, and 15 automated checks monitor data quality. The Streamlit dashboard visualizes this cleanly. Finally, I added a machine learning layer using an Isolation Forest to flag statistically unusual flight behaviors based on speed, altitude, and heading.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this platform successfully turns a noisy API feed into a clean, queryable, and monitored database. The key engineering takeaway was designing for failure—ensuring the system recovers cleanly without duplicating data. Future steps would include upgrading to Apache Iceberg and expanding the ML to track full flight paths. Thank you.</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png"/><Relationship Id="rId5" Type="http://schemas.openxmlformats.org/officeDocument/2006/relationships/image" Target="../media/image4.png"/><Relationship Id="rId6" Type="http://schemas.openxmlformats.org/officeDocument/2006/relationships/image" Target="../media/image5.png"/><Relationship Id="rId7" Type="http://schemas.openxmlformats.org/officeDocument/2006/relationships/image" Target="../media/image6.png"/><Relationship Id="rId8" Type="http://schemas.openxmlformats.org/officeDocument/2006/relationships/image" Target="../media/image7.png"/><Relationship Id="rId9" Type="http://schemas.openxmlformats.org/officeDocument/2006/relationships/image" Target="../media/image8.png"/><Relationship Id="rId10" Type="http://schemas.openxmlformats.org/officeDocument/2006/relationships/image" Target="../media/image9.png"/><Relationship Id="rId11"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731520" y="1097280"/>
            <a:ext cx="5943600" cy="2743200"/>
          </a:xfrm>
          <a:prstGeom prst="rect">
            <a:avLst/>
          </a:prstGeom>
          <a:noFill/>
        </p:spPr>
        <p:txBody>
          <a:bodyPr wrap="square">
            <a:spAutoFit/>
          </a:bodyPr>
          <a:lstStyle/>
          <a:p>
            <a:pPr>
              <a:spcAft>
                <a:spcPts val="1200"/>
              </a:spcAft>
            </a:pPr>
            <a:r>
              <a:rPr sz="4800" b="1">
                <a:solidFill>
                  <a:srgbClr val="0F172A"/>
                </a:solidFill>
                <a:latin typeface="Calibri"/>
              </a:rPr>
              <a:t>Airspace Intelligence
Platform</a:t>
            </a:r>
          </a:p>
          <a:p>
            <a:r>
              <a:rPr sz="2000">
                <a:solidFill>
                  <a:srgbClr val="0284C7"/>
                </a:solidFill>
                <a:latin typeface="Calibri"/>
              </a:rPr>
              <a:t>End-to-End Flight Data Engineering &amp; Analytics</a:t>
            </a:r>
          </a:p>
          <a:p>
            <a:r>
              <a:rPr sz="1400">
                <a:solidFill>
                  <a:srgbClr val="475569"/>
                </a:solidFill>
                <a:latin typeface="Calibri"/>
              </a:rPr>
              <a:t>
Containerized pipeline processing live OpenSky telemetry</a:t>
            </a:r>
          </a:p>
        </p:txBody>
      </p:sp>
      <p:pic>
        <p:nvPicPr>
          <p:cNvPr id="3" name="Picture 2" descr="architecture.png"/>
          <p:cNvPicPr>
            <a:picLocks noChangeAspect="1"/>
          </p:cNvPicPr>
          <p:nvPr/>
        </p:nvPicPr>
        <p:blipFill>
          <a:blip r:embed="rId2"/>
          <a:stretch>
            <a:fillRect/>
          </a:stretch>
        </p:blipFill>
        <p:spPr>
          <a:xfrm>
            <a:off x="6217920" y="731520"/>
            <a:ext cx="5486400" cy="3657600"/>
          </a:xfrm>
          <a:prstGeom prst="rect">
            <a:avLst/>
          </a:prstGeom>
        </p:spPr>
      </p:pic>
      <p:pic>
        <p:nvPicPr>
          <p:cNvPr id="4" name="Picture 3" descr="badge_python.png"/>
          <p:cNvPicPr>
            <a:picLocks noChangeAspect="1"/>
          </p:cNvPicPr>
          <p:nvPr/>
        </p:nvPicPr>
        <p:blipFill>
          <a:blip r:embed="rId3"/>
          <a:stretch>
            <a:fillRect/>
          </a:stretch>
        </p:blipFill>
        <p:spPr>
          <a:xfrm>
            <a:off x="731520" y="4572000"/>
            <a:ext cx="1737360" cy="579120"/>
          </a:xfrm>
          <a:prstGeom prst="rect">
            <a:avLst/>
          </a:prstGeom>
        </p:spPr>
      </p:pic>
      <p:pic>
        <p:nvPicPr>
          <p:cNvPr id="5" name="Picture 4" descr="badge_kafka.png"/>
          <p:cNvPicPr>
            <a:picLocks noChangeAspect="1"/>
          </p:cNvPicPr>
          <p:nvPr/>
        </p:nvPicPr>
        <p:blipFill>
          <a:blip r:embed="rId4"/>
          <a:stretch>
            <a:fillRect/>
          </a:stretch>
        </p:blipFill>
        <p:spPr>
          <a:xfrm>
            <a:off x="2651760" y="4572000"/>
            <a:ext cx="1737360" cy="579120"/>
          </a:xfrm>
          <a:prstGeom prst="rect">
            <a:avLst/>
          </a:prstGeom>
        </p:spPr>
      </p:pic>
      <p:pic>
        <p:nvPicPr>
          <p:cNvPr id="6" name="Picture 5" descr="badge_spark.png"/>
          <p:cNvPicPr>
            <a:picLocks noChangeAspect="1"/>
          </p:cNvPicPr>
          <p:nvPr/>
        </p:nvPicPr>
        <p:blipFill>
          <a:blip r:embed="rId5"/>
          <a:stretch>
            <a:fillRect/>
          </a:stretch>
        </p:blipFill>
        <p:spPr>
          <a:xfrm>
            <a:off x="4572000" y="4572000"/>
            <a:ext cx="1737360" cy="579120"/>
          </a:xfrm>
          <a:prstGeom prst="rect">
            <a:avLst/>
          </a:prstGeom>
        </p:spPr>
      </p:pic>
      <p:pic>
        <p:nvPicPr>
          <p:cNvPr id="7" name="Picture 6" descr="badge_postgres.png"/>
          <p:cNvPicPr>
            <a:picLocks noChangeAspect="1"/>
          </p:cNvPicPr>
          <p:nvPr/>
        </p:nvPicPr>
        <p:blipFill>
          <a:blip r:embed="rId6"/>
          <a:stretch>
            <a:fillRect/>
          </a:stretch>
        </p:blipFill>
        <p:spPr>
          <a:xfrm>
            <a:off x="6492240" y="4572000"/>
            <a:ext cx="1737360" cy="579120"/>
          </a:xfrm>
          <a:prstGeom prst="rect">
            <a:avLst/>
          </a:prstGeom>
        </p:spPr>
      </p:pic>
      <p:pic>
        <p:nvPicPr>
          <p:cNvPr id="8" name="Picture 7" descr="badge_airflow.png"/>
          <p:cNvPicPr>
            <a:picLocks noChangeAspect="1"/>
          </p:cNvPicPr>
          <p:nvPr/>
        </p:nvPicPr>
        <p:blipFill>
          <a:blip r:embed="rId7"/>
          <a:stretch>
            <a:fillRect/>
          </a:stretch>
        </p:blipFill>
        <p:spPr>
          <a:xfrm>
            <a:off x="731520" y="5486400"/>
            <a:ext cx="1737360" cy="579120"/>
          </a:xfrm>
          <a:prstGeom prst="rect">
            <a:avLst/>
          </a:prstGeom>
        </p:spPr>
      </p:pic>
      <p:pic>
        <p:nvPicPr>
          <p:cNvPr id="9" name="Picture 8" descr="badge_grafana.png"/>
          <p:cNvPicPr>
            <a:picLocks noChangeAspect="1"/>
          </p:cNvPicPr>
          <p:nvPr/>
        </p:nvPicPr>
        <p:blipFill>
          <a:blip r:embed="rId8"/>
          <a:stretch>
            <a:fillRect/>
          </a:stretch>
        </p:blipFill>
        <p:spPr>
          <a:xfrm>
            <a:off x="2651760" y="5486400"/>
            <a:ext cx="1737360" cy="579120"/>
          </a:xfrm>
          <a:prstGeom prst="rect">
            <a:avLst/>
          </a:prstGeom>
        </p:spPr>
      </p:pic>
      <p:pic>
        <p:nvPicPr>
          <p:cNvPr id="10" name="Picture 9" descr="badge_streamlit.png"/>
          <p:cNvPicPr>
            <a:picLocks noChangeAspect="1"/>
          </p:cNvPicPr>
          <p:nvPr/>
        </p:nvPicPr>
        <p:blipFill>
          <a:blip r:embed="rId9"/>
          <a:stretch>
            <a:fillRect/>
          </a:stretch>
        </p:blipFill>
        <p:spPr>
          <a:xfrm>
            <a:off x="4572000" y="5486400"/>
            <a:ext cx="1737360" cy="579120"/>
          </a:xfrm>
          <a:prstGeom prst="rect">
            <a:avLst/>
          </a:prstGeom>
        </p:spPr>
      </p:pic>
      <p:pic>
        <p:nvPicPr>
          <p:cNvPr id="11" name="Picture 10" descr="badge_sklearn.png"/>
          <p:cNvPicPr>
            <a:picLocks noChangeAspect="1"/>
          </p:cNvPicPr>
          <p:nvPr/>
        </p:nvPicPr>
        <p:blipFill>
          <a:blip r:embed="rId10"/>
          <a:stretch>
            <a:fillRect/>
          </a:stretch>
        </p:blipFill>
        <p:spPr>
          <a:xfrm>
            <a:off x="6492240" y="5486400"/>
            <a:ext cx="1737360" cy="579120"/>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10241280" cy="822960"/>
          </a:xfrm>
          <a:prstGeom prst="rect">
            <a:avLst/>
          </a:prstGeom>
          <a:noFill/>
        </p:spPr>
        <p:txBody>
          <a:bodyPr wrap="square" lIns="0" tIns="0" rIns="0" bIns="0">
            <a:spAutoFit/>
          </a:bodyPr>
          <a:lstStyle/>
          <a:p>
            <a:pPr>
              <a:spcAft>
                <a:spcPts val="200"/>
              </a:spcAft>
            </a:pPr>
            <a:r>
              <a:rPr sz="2600" b="1">
                <a:solidFill>
                  <a:srgbClr val="0F172A"/>
                </a:solidFill>
                <a:latin typeface="Calibri"/>
              </a:rPr>
              <a:t>Project Overview &amp; Goals</a:t>
            </a:r>
          </a:p>
          <a:p>
            <a:r>
              <a:rPr sz="1200">
                <a:solidFill>
                  <a:srgbClr val="475569"/>
                </a:solidFill>
                <a:latin typeface="Calibri"/>
              </a:rPr>
              <a:t>Why build a flight data pipeline?</a:t>
            </a:r>
          </a:p>
        </p:txBody>
      </p:sp>
      <p:sp>
        <p:nvSpPr>
          <p:cNvPr id="3" name="Rectangle 2"/>
          <p:cNvSpPr/>
          <p:nvPr/>
        </p:nvSpPr>
        <p:spPr>
          <a:xfrm>
            <a:off x="502920" y="1005840"/>
            <a:ext cx="11183112"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365760"/>
            <a:ext cx="731520" cy="365760"/>
          </a:xfrm>
          <a:prstGeom prst="roundRect">
            <a:avLst>
              <a:gd name="adj" fmla="val 5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475569"/>
                </a:solidFill>
                <a:latin typeface="Calibri"/>
              </a:rPr>
              <a:t>02 / 08</a:t>
            </a:r>
          </a:p>
        </p:txBody>
      </p:sp>
      <p:sp>
        <p:nvSpPr>
          <p:cNvPr id="5" name="Rounded Rectangle 4"/>
          <p:cNvSpPr/>
          <p:nvPr/>
        </p:nvSpPr>
        <p:spPr>
          <a:xfrm>
            <a:off x="548640" y="1371600"/>
            <a:ext cx="5303520" cy="4846320"/>
          </a:xfrm>
          <a:prstGeom prst="roundRect">
            <a:avLst>
              <a:gd name="adj" fmla="val 5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371600"/>
            <a:ext cx="73152" cy="4846320"/>
          </a:xfrm>
          <a:prstGeom prst="roundRect">
            <a:avLst>
              <a:gd name="adj" fmla="val 20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08760"/>
            <a:ext cx="4937759" cy="4572000"/>
          </a:xfrm>
          <a:prstGeom prst="rect">
            <a:avLst/>
          </a:prstGeom>
          <a:noFill/>
        </p:spPr>
        <p:txBody>
          <a:bodyPr wrap="square" lIns="0" tIns="0" rIns="0" bIns="0">
            <a:spAutoFit/>
          </a:bodyPr>
          <a:lstStyle/>
          <a:p>
            <a:pPr>
              <a:spcAft>
                <a:spcPts val="800"/>
              </a:spcAft>
            </a:pPr>
            <a:r>
              <a:rPr sz="1400" b="1">
                <a:solidFill>
                  <a:srgbClr val="0F172A"/>
                </a:solidFill>
                <a:latin typeface="Calibri"/>
              </a:rPr>
              <a:t>The Data Challenges</a:t>
            </a:r>
          </a:p>
          <a:p>
            <a:pPr>
              <a:spcAft>
                <a:spcPts val="600"/>
              </a:spcAft>
            </a:pPr>
            <a:r>
              <a:rPr sz="1400" b="1">
                <a:solidFill>
                  <a:srgbClr val="D97706"/>
                </a:solidFill>
                <a:latin typeface="Calibri"/>
              </a:rPr>
              <a:t>• </a:t>
            </a:r>
            <a:r>
              <a:rPr sz="1200" b="1">
                <a:solidFill>
                  <a:srgbClr val="0F172A"/>
                </a:solidFill>
                <a:latin typeface="Calibri"/>
              </a:rPr>
              <a:t>Messy Raw Data: </a:t>
            </a:r>
            <a:r>
              <a:rPr sz="1200">
                <a:solidFill>
                  <a:srgbClr val="475569"/>
                </a:solidFill>
                <a:latin typeface="Calibri"/>
              </a:rPr>
              <a:t>OpenSky API returns raw arrays with missing fields, sensor noise, and occasional corrupt altitude/speed spikes (&gt;400 m/s).</a:t>
            </a:r>
          </a:p>
          <a:p>
            <a:pPr>
              <a:spcAft>
                <a:spcPts val="600"/>
              </a:spcAft>
            </a:pPr>
            <a:r>
              <a:rPr sz="1400" b="1">
                <a:solidFill>
                  <a:srgbClr val="D97706"/>
                </a:solidFill>
                <a:latin typeface="Calibri"/>
              </a:rPr>
              <a:t>• </a:t>
            </a:r>
            <a:r>
              <a:rPr sz="1200" b="1">
                <a:solidFill>
                  <a:srgbClr val="0F172A"/>
                </a:solidFill>
                <a:latin typeface="Calibri"/>
              </a:rPr>
              <a:t>Strict Rate Limits: </a:t>
            </a:r>
            <a:r>
              <a:rPr sz="1200">
                <a:solidFill>
                  <a:srgbClr val="475569"/>
                </a:solidFill>
                <a:latin typeface="Calibri"/>
              </a:rPr>
              <a:t>Worldwide API calls cost 4 credits out of a strict 4,000/day budget. Blind retries lead to HTTP 429 bans.</a:t>
            </a:r>
          </a:p>
          <a:p>
            <a:pPr>
              <a:spcAft>
                <a:spcPts val="600"/>
              </a:spcAft>
            </a:pPr>
            <a:r>
              <a:rPr sz="1400" b="1">
                <a:solidFill>
                  <a:srgbClr val="D97706"/>
                </a:solidFill>
                <a:latin typeface="Calibri"/>
              </a:rPr>
              <a:t>• </a:t>
            </a:r>
            <a:r>
              <a:rPr sz="1200" b="1">
                <a:solidFill>
                  <a:srgbClr val="0F172A"/>
                </a:solidFill>
                <a:latin typeface="Calibri"/>
              </a:rPr>
              <a:t>No Built-in History: </a:t>
            </a:r>
            <a:r>
              <a:rPr sz="1200">
                <a:solidFill>
                  <a:srgbClr val="475569"/>
                </a:solidFill>
                <a:latin typeface="Calibri"/>
              </a:rPr>
              <a:t>The API gives point-in-time snapshots. Without persistence, flight tracks are permanently lost.</a:t>
            </a:r>
          </a:p>
          <a:p>
            <a:pPr>
              <a:spcAft>
                <a:spcPts val="600"/>
              </a:spcAft>
            </a:pPr>
            <a:r>
              <a:rPr sz="1400" b="1">
                <a:solidFill>
                  <a:srgbClr val="D97706"/>
                </a:solidFill>
                <a:latin typeface="Calibri"/>
              </a:rPr>
              <a:t>• </a:t>
            </a:r>
            <a:r>
              <a:rPr sz="1200" b="1">
                <a:solidFill>
                  <a:srgbClr val="0F172A"/>
                </a:solidFill>
                <a:latin typeface="Calibri"/>
              </a:rPr>
              <a:t>Static Aircraft Bloat: </a:t>
            </a:r>
            <a:r>
              <a:rPr sz="1200">
                <a:solidFill>
                  <a:srgbClr val="475569"/>
                </a:solidFill>
                <a:latin typeface="Calibri"/>
              </a:rPr>
              <a:t>Parked aircraft broadcast identical positions constantly, wasting downstream storage and processing.</a:t>
            </a:r>
          </a:p>
        </p:txBody>
      </p:sp>
      <p:sp>
        <p:nvSpPr>
          <p:cNvPr id="8" name="Rounded Rectangle 7"/>
          <p:cNvSpPr/>
          <p:nvPr/>
        </p:nvSpPr>
        <p:spPr>
          <a:xfrm>
            <a:off x="6309360" y="1371600"/>
            <a:ext cx="5303520" cy="4846320"/>
          </a:xfrm>
          <a:prstGeom prst="roundRect">
            <a:avLst>
              <a:gd name="adj" fmla="val 5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371600"/>
            <a:ext cx="73152" cy="4846320"/>
          </a:xfrm>
          <a:prstGeom prst="roundRect">
            <a:avLst>
              <a:gd name="adj" fmla="val 20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508760"/>
            <a:ext cx="4937759" cy="4572000"/>
          </a:xfrm>
          <a:prstGeom prst="rect">
            <a:avLst/>
          </a:prstGeom>
          <a:noFill/>
        </p:spPr>
        <p:txBody>
          <a:bodyPr wrap="square" lIns="0" tIns="0" rIns="0" bIns="0">
            <a:spAutoFit/>
          </a:bodyPr>
          <a:lstStyle/>
          <a:p>
            <a:pPr>
              <a:spcAft>
                <a:spcPts val="800"/>
              </a:spcAft>
            </a:pPr>
            <a:r>
              <a:rPr sz="1400" b="1">
                <a:solidFill>
                  <a:srgbClr val="0F172A"/>
                </a:solidFill>
                <a:latin typeface="Calibri"/>
              </a:rPr>
              <a:t>Engineering Objectives</a:t>
            </a:r>
          </a:p>
          <a:p>
            <a:pPr>
              <a:spcAft>
                <a:spcPts val="600"/>
              </a:spcAft>
            </a:pPr>
            <a:r>
              <a:rPr sz="1400" b="1">
                <a:solidFill>
                  <a:srgbClr val="0284C7"/>
                </a:solidFill>
                <a:latin typeface="Calibri"/>
              </a:rPr>
              <a:t>• </a:t>
            </a:r>
            <a:r>
              <a:rPr sz="1200" b="1">
                <a:solidFill>
                  <a:srgbClr val="0F172A"/>
                </a:solidFill>
                <a:latin typeface="Calibri"/>
              </a:rPr>
              <a:t>Resilient Ingestion: </a:t>
            </a:r>
            <a:r>
              <a:rPr sz="1200">
                <a:solidFill>
                  <a:srgbClr val="475569"/>
                </a:solidFill>
                <a:latin typeface="Calibri"/>
              </a:rPr>
              <a:t>Poll efficiently every 60s, respect API budgets, and handle network drops with exponential backoff.</a:t>
            </a:r>
          </a:p>
          <a:p>
            <a:pPr>
              <a:spcAft>
                <a:spcPts val="600"/>
              </a:spcAft>
            </a:pPr>
            <a:r>
              <a:rPr sz="1400" b="1">
                <a:solidFill>
                  <a:srgbClr val="0284C7"/>
                </a:solidFill>
                <a:latin typeface="Calibri"/>
              </a:rPr>
              <a:t>• </a:t>
            </a:r>
            <a:r>
              <a:rPr sz="1200" b="1">
                <a:solidFill>
                  <a:srgbClr val="0F172A"/>
                </a:solidFill>
                <a:latin typeface="Calibri"/>
              </a:rPr>
              <a:t>Decoupled Streaming: </a:t>
            </a:r>
            <a:r>
              <a:rPr sz="1200">
                <a:solidFill>
                  <a:srgbClr val="475569"/>
                </a:solidFill>
                <a:latin typeface="Calibri"/>
              </a:rPr>
              <a:t>Use Kafka so the ingestion service never waits on heavy data processing or database locks.</a:t>
            </a:r>
          </a:p>
          <a:p>
            <a:pPr>
              <a:spcAft>
                <a:spcPts val="600"/>
              </a:spcAft>
            </a:pPr>
            <a:r>
              <a:rPr sz="1400" b="1">
                <a:solidFill>
                  <a:srgbClr val="0284C7"/>
                </a:solidFill>
                <a:latin typeface="Calibri"/>
              </a:rPr>
              <a:t>• </a:t>
            </a:r>
            <a:r>
              <a:rPr sz="1200" b="1">
                <a:solidFill>
                  <a:srgbClr val="0F172A"/>
                </a:solidFill>
                <a:latin typeface="Calibri"/>
              </a:rPr>
              <a:t>Zero Data Duplication: </a:t>
            </a:r>
            <a:r>
              <a:rPr sz="1200">
                <a:solidFill>
                  <a:srgbClr val="475569"/>
                </a:solidFill>
                <a:latin typeface="Calibri"/>
              </a:rPr>
              <a:t>Use stateful change detection (only save aircraft that moved) and idempotent database inserts (ON CONFLICT DO NOTHING).</a:t>
            </a:r>
          </a:p>
          <a:p>
            <a:pPr>
              <a:spcAft>
                <a:spcPts val="600"/>
              </a:spcAft>
            </a:pPr>
            <a:r>
              <a:rPr sz="1400" b="1">
                <a:solidFill>
                  <a:srgbClr val="0284C7"/>
                </a:solidFill>
                <a:latin typeface="Calibri"/>
              </a:rPr>
              <a:t>• </a:t>
            </a:r>
            <a:r>
              <a:rPr sz="1200" b="1">
                <a:solidFill>
                  <a:srgbClr val="0F172A"/>
                </a:solidFill>
                <a:latin typeface="Calibri"/>
              </a:rPr>
              <a:t>Observability &amp; Analytics: </a:t>
            </a:r>
            <a:r>
              <a:rPr sz="1200">
                <a:solidFill>
                  <a:srgbClr val="475569"/>
                </a:solidFill>
                <a:latin typeface="Calibri"/>
              </a:rPr>
              <a:t>Add automated data quality checks, Grafana pipeline monitoring, and a Streamlit dashboard.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10241280" cy="822960"/>
          </a:xfrm>
          <a:prstGeom prst="rect">
            <a:avLst/>
          </a:prstGeom>
          <a:noFill/>
        </p:spPr>
        <p:txBody>
          <a:bodyPr wrap="square" lIns="0" tIns="0" rIns="0" bIns="0">
            <a:spAutoFit/>
          </a:bodyPr>
          <a:lstStyle/>
          <a:p>
            <a:pPr>
              <a:spcAft>
                <a:spcPts val="200"/>
              </a:spcAft>
            </a:pPr>
            <a:r>
              <a:rPr sz="2600" b="1">
                <a:solidFill>
                  <a:srgbClr val="0F172A"/>
                </a:solidFill>
                <a:latin typeface="Calibri"/>
              </a:rPr>
              <a:t>System Architecture</a:t>
            </a:r>
          </a:p>
          <a:p>
            <a:r>
              <a:rPr sz="1200">
                <a:solidFill>
                  <a:srgbClr val="475569"/>
                </a:solidFill>
                <a:latin typeface="Calibri"/>
              </a:rPr>
              <a:t>The path of data from API to Dashboard</a:t>
            </a:r>
          </a:p>
        </p:txBody>
      </p:sp>
      <p:sp>
        <p:nvSpPr>
          <p:cNvPr id="3" name="Rectangle 2"/>
          <p:cNvSpPr/>
          <p:nvPr/>
        </p:nvSpPr>
        <p:spPr>
          <a:xfrm>
            <a:off x="502920" y="1005840"/>
            <a:ext cx="11183112"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365760"/>
            <a:ext cx="731520" cy="365760"/>
          </a:xfrm>
          <a:prstGeom prst="roundRect">
            <a:avLst>
              <a:gd name="adj" fmla="val 5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475569"/>
                </a:solidFill>
                <a:latin typeface="Calibri"/>
              </a:rPr>
              <a:t>03 / 08</a:t>
            </a:r>
          </a:p>
        </p:txBody>
      </p:sp>
      <p:pic>
        <p:nvPicPr>
          <p:cNvPr id="5" name="Picture 4" descr="architecture.png"/>
          <p:cNvPicPr>
            <a:picLocks noChangeAspect="1"/>
          </p:cNvPicPr>
          <p:nvPr/>
        </p:nvPicPr>
        <p:blipFill>
          <a:blip r:embed="rId2"/>
          <a:stretch>
            <a:fillRect/>
          </a:stretch>
        </p:blipFill>
        <p:spPr>
          <a:xfrm>
            <a:off x="457200" y="1371600"/>
            <a:ext cx="11277295" cy="7518197"/>
          </a:xfrm>
          <a:prstGeom prst="rect">
            <a:avLst/>
          </a:prstGeom>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10241280" cy="822960"/>
          </a:xfrm>
          <a:prstGeom prst="rect">
            <a:avLst/>
          </a:prstGeom>
          <a:noFill/>
        </p:spPr>
        <p:txBody>
          <a:bodyPr wrap="square" lIns="0" tIns="0" rIns="0" bIns="0">
            <a:spAutoFit/>
          </a:bodyPr>
          <a:lstStyle/>
          <a:p>
            <a:pPr>
              <a:spcAft>
                <a:spcPts val="200"/>
              </a:spcAft>
            </a:pPr>
            <a:r>
              <a:rPr sz="2600" b="1">
                <a:solidFill>
                  <a:srgbClr val="0F172A"/>
                </a:solidFill>
                <a:latin typeface="Calibri"/>
              </a:rPr>
              <a:t>Ingestion &amp; Quality Gate</a:t>
            </a:r>
          </a:p>
          <a:p>
            <a:r>
              <a:rPr sz="1200">
                <a:solidFill>
                  <a:srgbClr val="475569"/>
                </a:solidFill>
                <a:latin typeface="Calibri"/>
              </a:rPr>
              <a:t>Polling the API and enforcing strict rules</a:t>
            </a:r>
          </a:p>
        </p:txBody>
      </p:sp>
      <p:sp>
        <p:nvSpPr>
          <p:cNvPr id="3" name="Rectangle 2"/>
          <p:cNvSpPr/>
          <p:nvPr/>
        </p:nvSpPr>
        <p:spPr>
          <a:xfrm>
            <a:off x="502920" y="1005840"/>
            <a:ext cx="11183112"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365760"/>
            <a:ext cx="731520" cy="365760"/>
          </a:xfrm>
          <a:prstGeom prst="roundRect">
            <a:avLst>
              <a:gd name="adj" fmla="val 5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475569"/>
                </a:solidFill>
                <a:latin typeface="Calibri"/>
              </a:rPr>
              <a:t>04 / 08</a:t>
            </a:r>
          </a:p>
        </p:txBody>
      </p:sp>
      <p:sp>
        <p:nvSpPr>
          <p:cNvPr id="5" name="Rounded Rectangle 4"/>
          <p:cNvSpPr/>
          <p:nvPr/>
        </p:nvSpPr>
        <p:spPr>
          <a:xfrm>
            <a:off x="548640" y="1371600"/>
            <a:ext cx="11064240" cy="2286000"/>
          </a:xfrm>
          <a:prstGeom prst="roundRect">
            <a:avLst>
              <a:gd name="adj" fmla="val 5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371600"/>
            <a:ext cx="73152" cy="2286000"/>
          </a:xfrm>
          <a:prstGeom prst="roundRect">
            <a:avLst>
              <a:gd name="adj" fmla="val 20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08760"/>
            <a:ext cx="10698480" cy="2011680"/>
          </a:xfrm>
          <a:prstGeom prst="rect">
            <a:avLst/>
          </a:prstGeom>
          <a:noFill/>
        </p:spPr>
        <p:txBody>
          <a:bodyPr wrap="square" lIns="0" tIns="0" rIns="0" bIns="0">
            <a:spAutoFit/>
          </a:bodyPr>
          <a:lstStyle/>
          <a:p>
            <a:pPr>
              <a:spcAft>
                <a:spcPts val="800"/>
              </a:spcAft>
            </a:pPr>
            <a:r>
              <a:rPr sz="1400" b="1">
                <a:solidFill>
                  <a:srgbClr val="0F172A"/>
                </a:solidFill>
                <a:latin typeface="Calibri"/>
              </a:rPr>
              <a:t>Python Ingestion Service</a:t>
            </a:r>
          </a:p>
          <a:p>
            <a:pPr>
              <a:spcAft>
                <a:spcPts val="600"/>
              </a:spcAft>
            </a:pPr>
            <a:r>
              <a:rPr sz="1400" b="1">
                <a:solidFill>
                  <a:srgbClr val="0284C7"/>
                </a:solidFill>
                <a:latin typeface="Calibri"/>
              </a:rPr>
              <a:t>• </a:t>
            </a:r>
            <a:r>
              <a:rPr sz="1200" b="1">
                <a:solidFill>
                  <a:srgbClr val="0F172A"/>
                </a:solidFill>
                <a:latin typeface="Calibri"/>
              </a:rPr>
              <a:t>API Polling &amp; Credit Guard: </a:t>
            </a:r>
            <a:r>
              <a:rPr sz="1200">
                <a:solidFill>
                  <a:srgbClr val="475569"/>
                </a:solidFill>
                <a:latin typeface="Calibri"/>
              </a:rPr>
              <a:t>Fetches data every 60s via OAuth2. Computes credit costs to stay within the 4,000/day limit using 1s-300s exponential backoff.</a:t>
            </a:r>
          </a:p>
          <a:p>
            <a:pPr>
              <a:spcAft>
                <a:spcPts val="600"/>
              </a:spcAft>
            </a:pPr>
            <a:r>
              <a:rPr sz="1400" b="1">
                <a:solidFill>
                  <a:srgbClr val="0284C7"/>
                </a:solidFill>
                <a:latin typeface="Calibri"/>
              </a:rPr>
              <a:t>• </a:t>
            </a:r>
            <a:r>
              <a:rPr sz="1200" b="1">
                <a:solidFill>
                  <a:srgbClr val="0F172A"/>
                </a:solidFill>
                <a:latin typeface="Calibri"/>
              </a:rPr>
              <a:t>Schema Normalization: </a:t>
            </a:r>
            <a:r>
              <a:rPr sz="1200">
                <a:solidFill>
                  <a:srgbClr val="475569"/>
                </a:solidFill>
                <a:latin typeface="Calibri"/>
              </a:rPr>
              <a:t>Transforms raw 18-element arrays into a canonical schema. Preserves both API snapshot time and pipeline ingestion time.</a:t>
            </a:r>
          </a:p>
          <a:p>
            <a:pPr>
              <a:spcAft>
                <a:spcPts val="600"/>
              </a:spcAft>
            </a:pPr>
            <a:r>
              <a:rPr sz="1400" b="1">
                <a:solidFill>
                  <a:srgbClr val="0284C7"/>
                </a:solidFill>
                <a:latin typeface="Calibri"/>
              </a:rPr>
              <a:t>• </a:t>
            </a:r>
            <a:r>
              <a:rPr sz="1200" b="1">
                <a:solidFill>
                  <a:srgbClr val="0F172A"/>
                </a:solidFill>
                <a:latin typeface="Calibri"/>
              </a:rPr>
              <a:t>Deduplication: </a:t>
            </a:r>
            <a:r>
              <a:rPr sz="1200">
                <a:solidFill>
                  <a:srgbClr val="475569"/>
                </a:solidFill>
                <a:latin typeface="Calibri"/>
              </a:rPr>
              <a:t>An in-memory ChangeDetector compares 7 flight fields. If an aircraft hasn't moved (custom NaN-safe equality), it is skipped to save storage.</a:t>
            </a:r>
          </a:p>
        </p:txBody>
      </p:sp>
      <p:sp>
        <p:nvSpPr>
          <p:cNvPr id="8" name="Rounded Rectangle 7"/>
          <p:cNvSpPr/>
          <p:nvPr/>
        </p:nvSpPr>
        <p:spPr>
          <a:xfrm>
            <a:off x="548640" y="3931920"/>
            <a:ext cx="11064240" cy="2286000"/>
          </a:xfrm>
          <a:prstGeom prst="roundRect">
            <a:avLst>
              <a:gd name="adj" fmla="val 5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3931920"/>
            <a:ext cx="73152" cy="2286000"/>
          </a:xfrm>
          <a:prstGeom prst="roundRect">
            <a:avLst>
              <a:gd name="adj" fmla="val 2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77240" y="4069080"/>
            <a:ext cx="10698480" cy="2011680"/>
          </a:xfrm>
          <a:prstGeom prst="rect">
            <a:avLst/>
          </a:prstGeom>
          <a:noFill/>
        </p:spPr>
        <p:txBody>
          <a:bodyPr wrap="square" lIns="0" tIns="0" rIns="0" bIns="0">
            <a:spAutoFit/>
          </a:bodyPr>
          <a:lstStyle/>
          <a:p>
            <a:pPr>
              <a:spcAft>
                <a:spcPts val="800"/>
              </a:spcAft>
            </a:pPr>
            <a:r>
              <a:rPr sz="1400" b="1">
                <a:solidFill>
                  <a:srgbClr val="0F172A"/>
                </a:solidFill>
                <a:latin typeface="Calibri"/>
              </a:rPr>
              <a:t>5-Rule Validation Gate</a:t>
            </a:r>
          </a:p>
          <a:p>
            <a:pPr>
              <a:spcAft>
                <a:spcPts val="600"/>
              </a:spcAft>
            </a:pPr>
            <a:r>
              <a:rPr sz="1400" b="1">
                <a:solidFill>
                  <a:srgbClr val="059669"/>
                </a:solidFill>
                <a:latin typeface="Calibri"/>
              </a:rPr>
              <a:t>• </a:t>
            </a:r>
            <a:r>
              <a:rPr sz="1200" b="1">
                <a:solidFill>
                  <a:srgbClr val="0F172A"/>
                </a:solidFill>
                <a:latin typeface="Calibri"/>
              </a:rPr>
              <a:t>Missing Data: </a:t>
            </a:r>
            <a:r>
              <a:rPr sz="1200">
                <a:solidFill>
                  <a:srgbClr val="475569"/>
                </a:solidFill>
                <a:latin typeface="Calibri"/>
              </a:rPr>
              <a:t>Drops rows missing the core icao24 aircraft ID or observation timestamps.</a:t>
            </a:r>
          </a:p>
          <a:p>
            <a:pPr>
              <a:spcAft>
                <a:spcPts val="600"/>
              </a:spcAft>
            </a:pPr>
            <a:r>
              <a:rPr sz="1400" b="1">
                <a:solidFill>
                  <a:srgbClr val="059669"/>
                </a:solidFill>
                <a:latin typeface="Calibri"/>
              </a:rPr>
              <a:t>• </a:t>
            </a:r>
            <a:r>
              <a:rPr sz="1200" b="1">
                <a:solidFill>
                  <a:srgbClr val="0F172A"/>
                </a:solidFill>
                <a:latin typeface="Calibri"/>
              </a:rPr>
              <a:t>Physical Bounds: </a:t>
            </a:r>
            <a:r>
              <a:rPr sz="1200">
                <a:solidFill>
                  <a:srgbClr val="475569"/>
                </a:solidFill>
                <a:latin typeface="Calibri"/>
              </a:rPr>
              <a:t>Filters out impossible latitudes (not between -90 and 90) or longitudes.</a:t>
            </a:r>
          </a:p>
          <a:p>
            <a:pPr>
              <a:spcAft>
                <a:spcPts val="600"/>
              </a:spcAft>
            </a:pPr>
            <a:r>
              <a:rPr sz="1400" b="1">
                <a:solidFill>
                  <a:srgbClr val="059669"/>
                </a:solidFill>
                <a:latin typeface="Calibri"/>
              </a:rPr>
              <a:t>• </a:t>
            </a:r>
            <a:r>
              <a:rPr sz="1200" b="1">
                <a:solidFill>
                  <a:srgbClr val="0F172A"/>
                </a:solidFill>
                <a:latin typeface="Calibri"/>
              </a:rPr>
              <a:t>Sensible Values: </a:t>
            </a:r>
            <a:r>
              <a:rPr sz="1200">
                <a:solidFill>
                  <a:srgbClr val="475569"/>
                </a:solidFill>
                <a:latin typeface="Calibri"/>
              </a:rPr>
              <a:t>Drops any row reporting a negative velocity.</a:t>
            </a:r>
          </a:p>
          <a:p>
            <a:pPr>
              <a:spcAft>
                <a:spcPts val="600"/>
              </a:spcAft>
            </a:pPr>
            <a:r>
              <a:rPr sz="1400" b="1">
                <a:solidFill>
                  <a:srgbClr val="059669"/>
                </a:solidFill>
                <a:latin typeface="Calibri"/>
              </a:rPr>
              <a:t>• </a:t>
            </a:r>
            <a:r>
              <a:rPr sz="1200" b="1">
                <a:solidFill>
                  <a:srgbClr val="0F172A"/>
                </a:solidFill>
                <a:latin typeface="Calibri"/>
              </a:rPr>
              <a:t>Auditable Rejections: </a:t>
            </a:r>
            <a:r>
              <a:rPr sz="1200">
                <a:solidFill>
                  <a:srgbClr val="475569"/>
                </a:solidFill>
                <a:latin typeface="Calibri"/>
              </a:rPr>
              <a:t>Invalid records are never silently dropped—each rejected aircraft row is explicitly logged with its rejection reason.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10241280" cy="822960"/>
          </a:xfrm>
          <a:prstGeom prst="rect">
            <a:avLst/>
          </a:prstGeom>
          <a:noFill/>
        </p:spPr>
        <p:txBody>
          <a:bodyPr wrap="square" lIns="0" tIns="0" rIns="0" bIns="0">
            <a:spAutoFit/>
          </a:bodyPr>
          <a:lstStyle/>
          <a:p>
            <a:pPr>
              <a:spcAft>
                <a:spcPts val="200"/>
              </a:spcAft>
            </a:pPr>
            <a:r>
              <a:rPr sz="2600" b="1">
                <a:solidFill>
                  <a:srgbClr val="0F172A"/>
                </a:solidFill>
                <a:latin typeface="Calibri"/>
              </a:rPr>
              <a:t>Real-Time Streaming</a:t>
            </a:r>
          </a:p>
          <a:p>
            <a:r>
              <a:rPr sz="1200">
                <a:solidFill>
                  <a:srgbClr val="475569"/>
                </a:solidFill>
                <a:latin typeface="Calibri"/>
              </a:rPr>
              <a:t>Decoupling with Kafka and PySpark</a:t>
            </a:r>
          </a:p>
        </p:txBody>
      </p:sp>
      <p:sp>
        <p:nvSpPr>
          <p:cNvPr id="3" name="Rectangle 2"/>
          <p:cNvSpPr/>
          <p:nvPr/>
        </p:nvSpPr>
        <p:spPr>
          <a:xfrm>
            <a:off x="502920" y="1005840"/>
            <a:ext cx="11183112"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365760"/>
            <a:ext cx="731520" cy="365760"/>
          </a:xfrm>
          <a:prstGeom prst="roundRect">
            <a:avLst>
              <a:gd name="adj" fmla="val 5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475569"/>
                </a:solidFill>
                <a:latin typeface="Calibri"/>
              </a:rPr>
              <a:t>05 / 08</a:t>
            </a:r>
          </a:p>
        </p:txBody>
      </p:sp>
      <p:sp>
        <p:nvSpPr>
          <p:cNvPr id="5" name="Rounded Rectangle 4"/>
          <p:cNvSpPr/>
          <p:nvPr/>
        </p:nvSpPr>
        <p:spPr>
          <a:xfrm>
            <a:off x="548640" y="1371600"/>
            <a:ext cx="5303520" cy="4846320"/>
          </a:xfrm>
          <a:prstGeom prst="roundRect">
            <a:avLst>
              <a:gd name="adj" fmla="val 5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371600"/>
            <a:ext cx="73152" cy="4846320"/>
          </a:xfrm>
          <a:prstGeom prst="roundRect">
            <a:avLst>
              <a:gd name="adj" fmla="val 20000"/>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08760"/>
            <a:ext cx="4937759" cy="4572000"/>
          </a:xfrm>
          <a:prstGeom prst="rect">
            <a:avLst/>
          </a:prstGeom>
          <a:noFill/>
        </p:spPr>
        <p:txBody>
          <a:bodyPr wrap="square" lIns="0" tIns="0" rIns="0" bIns="0">
            <a:spAutoFit/>
          </a:bodyPr>
          <a:lstStyle/>
          <a:p>
            <a:pPr>
              <a:spcAft>
                <a:spcPts val="800"/>
              </a:spcAft>
            </a:pPr>
            <a:r>
              <a:rPr sz="1400" b="1">
                <a:solidFill>
                  <a:srgbClr val="0F172A"/>
                </a:solidFill>
                <a:latin typeface="Calibri"/>
              </a:rPr>
              <a:t>Apache Kafka Buffering</a:t>
            </a:r>
          </a:p>
          <a:p>
            <a:pPr>
              <a:spcAft>
                <a:spcPts val="600"/>
              </a:spcAft>
            </a:pPr>
            <a:r>
              <a:rPr sz="1400" b="1">
                <a:solidFill>
                  <a:srgbClr val="D97706"/>
                </a:solidFill>
                <a:latin typeface="Calibri"/>
              </a:rPr>
              <a:t>• </a:t>
            </a:r>
            <a:r>
              <a:rPr sz="1200" b="1">
                <a:solidFill>
                  <a:srgbClr val="0F172A"/>
                </a:solidFill>
                <a:latin typeface="Calibri"/>
              </a:rPr>
              <a:t>Partition Ordering: </a:t>
            </a:r>
            <a:r>
              <a:rPr sz="1200">
                <a:solidFill>
                  <a:srgbClr val="475569"/>
                </a:solidFill>
                <a:latin typeface="Calibri"/>
              </a:rPr>
              <a:t>Publishes to the aircraft_states topic. Using the aircraft ID as the key ensures updates for the same plane are ordered.</a:t>
            </a:r>
          </a:p>
          <a:p>
            <a:pPr>
              <a:spcAft>
                <a:spcPts val="600"/>
              </a:spcAft>
            </a:pPr>
            <a:r>
              <a:rPr sz="1400" b="1">
                <a:solidFill>
                  <a:srgbClr val="D97706"/>
                </a:solidFill>
                <a:latin typeface="Calibri"/>
              </a:rPr>
              <a:t>• </a:t>
            </a:r>
            <a:r>
              <a:rPr sz="1200" b="1">
                <a:solidFill>
                  <a:srgbClr val="0F172A"/>
                </a:solidFill>
                <a:latin typeface="Calibri"/>
              </a:rPr>
              <a:t>Fault Isolation: </a:t>
            </a:r>
            <a:r>
              <a:rPr sz="1200">
                <a:solidFill>
                  <a:srgbClr val="475569"/>
                </a:solidFill>
                <a:latin typeface="Calibri"/>
              </a:rPr>
              <a:t>If downstream processing crashes or restarts, Kafka safely retains incoming messages on disk.</a:t>
            </a:r>
          </a:p>
          <a:p>
            <a:pPr>
              <a:spcAft>
                <a:spcPts val="600"/>
              </a:spcAft>
            </a:pPr>
            <a:r>
              <a:rPr sz="1400" b="1">
                <a:solidFill>
                  <a:srgbClr val="D97706"/>
                </a:solidFill>
                <a:latin typeface="Calibri"/>
              </a:rPr>
              <a:t>• </a:t>
            </a:r>
            <a:r>
              <a:rPr sz="1200" b="1">
                <a:solidFill>
                  <a:srgbClr val="0F172A"/>
                </a:solidFill>
                <a:latin typeface="Calibri"/>
              </a:rPr>
              <a:t>Multi-Consumer Extensibility: </a:t>
            </a:r>
            <a:r>
              <a:rPr sz="1200">
                <a:solidFill>
                  <a:srgbClr val="475569"/>
                </a:solidFill>
                <a:latin typeface="Calibri"/>
              </a:rPr>
              <a:t>Allows test consumers and Grafana monitors to inspect the stream without interfering with Spark.</a:t>
            </a:r>
          </a:p>
        </p:txBody>
      </p:sp>
      <p:sp>
        <p:nvSpPr>
          <p:cNvPr id="8" name="Rounded Rectangle 7"/>
          <p:cNvSpPr/>
          <p:nvPr/>
        </p:nvSpPr>
        <p:spPr>
          <a:xfrm>
            <a:off x="6309360" y="1371600"/>
            <a:ext cx="5303520" cy="4846320"/>
          </a:xfrm>
          <a:prstGeom prst="roundRect">
            <a:avLst>
              <a:gd name="adj" fmla="val 5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371600"/>
            <a:ext cx="73152" cy="4846320"/>
          </a:xfrm>
          <a:prstGeom prst="roundRect">
            <a:avLst>
              <a:gd name="adj" fmla="val 20000"/>
            </a:avLst>
          </a:prstGeom>
          <a:solidFill>
            <a:srgbClr val="EA580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508760"/>
            <a:ext cx="4937759" cy="4572000"/>
          </a:xfrm>
          <a:prstGeom prst="rect">
            <a:avLst/>
          </a:prstGeom>
          <a:noFill/>
        </p:spPr>
        <p:txBody>
          <a:bodyPr wrap="square" lIns="0" tIns="0" rIns="0" bIns="0">
            <a:spAutoFit/>
          </a:bodyPr>
          <a:lstStyle/>
          <a:p>
            <a:pPr>
              <a:spcAft>
                <a:spcPts val="800"/>
              </a:spcAft>
            </a:pPr>
            <a:r>
              <a:rPr sz="1400" b="1">
                <a:solidFill>
                  <a:srgbClr val="0F172A"/>
                </a:solidFill>
                <a:latin typeface="Calibri"/>
              </a:rPr>
              <a:t>Spark Structured Streaming</a:t>
            </a:r>
          </a:p>
          <a:p>
            <a:pPr>
              <a:spcAft>
                <a:spcPts val="600"/>
              </a:spcAft>
            </a:pPr>
            <a:r>
              <a:rPr sz="1400" b="1">
                <a:solidFill>
                  <a:srgbClr val="EA580C"/>
                </a:solidFill>
                <a:latin typeface="Calibri"/>
              </a:rPr>
              <a:t>• </a:t>
            </a:r>
            <a:r>
              <a:rPr sz="1200" b="1">
                <a:solidFill>
                  <a:srgbClr val="0F172A"/>
                </a:solidFill>
                <a:latin typeface="Calibri"/>
              </a:rPr>
              <a:t>Permissive JSON Parsing: </a:t>
            </a:r>
            <a:r>
              <a:rPr sz="1200">
                <a:solidFill>
                  <a:srgbClr val="475569"/>
                </a:solidFill>
                <a:latin typeface="Calibri"/>
              </a:rPr>
              <a:t>Applies an explicit 18-column schema. All fields are nullable to prevent Spark from dropping valid partial rows.</a:t>
            </a:r>
          </a:p>
          <a:p>
            <a:pPr>
              <a:spcAft>
                <a:spcPts val="600"/>
              </a:spcAft>
            </a:pPr>
            <a:r>
              <a:rPr sz="1400" b="1">
                <a:solidFill>
                  <a:srgbClr val="EA580C"/>
                </a:solidFill>
                <a:latin typeface="Calibri"/>
              </a:rPr>
              <a:t>• </a:t>
            </a:r>
            <a:r>
              <a:rPr sz="1200" b="1">
                <a:solidFill>
                  <a:srgbClr val="0F172A"/>
                </a:solidFill>
                <a:latin typeface="Calibri"/>
              </a:rPr>
              <a:t>Data Enrichment: </a:t>
            </a:r>
            <a:r>
              <a:rPr sz="1200">
                <a:solidFill>
                  <a:srgbClr val="475569"/>
                </a:solidFill>
                <a:latin typeface="Calibri"/>
              </a:rPr>
              <a:t>Calculates km/h, km altitude, categorizes status as 'AIRBORNE' or 'ON_GROUND', and measures ingestion latency.</a:t>
            </a:r>
          </a:p>
          <a:p>
            <a:pPr>
              <a:spcAft>
                <a:spcPts val="600"/>
              </a:spcAft>
            </a:pPr>
            <a:r>
              <a:rPr sz="1400" b="1">
                <a:solidFill>
                  <a:srgbClr val="EA580C"/>
                </a:solidFill>
                <a:latin typeface="Calibri"/>
              </a:rPr>
              <a:t>• </a:t>
            </a:r>
            <a:r>
              <a:rPr sz="1200" b="1">
                <a:solidFill>
                  <a:srgbClr val="0F172A"/>
                </a:solidFill>
                <a:latin typeface="Calibri"/>
              </a:rPr>
              <a:t>Micro-batches: </a:t>
            </a:r>
            <a:r>
              <a:rPr sz="1200">
                <a:solidFill>
                  <a:srgbClr val="475569"/>
                </a:solidFill>
                <a:latin typeface="Calibri"/>
              </a:rPr>
              <a:t>Uses a 30s trigger and writes final cleaned Parquet files. Protected by a POSIX file lock so only one stream runs.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10241280" cy="822960"/>
          </a:xfrm>
          <a:prstGeom prst="rect">
            <a:avLst/>
          </a:prstGeom>
          <a:noFill/>
        </p:spPr>
        <p:txBody>
          <a:bodyPr wrap="square" lIns="0" tIns="0" rIns="0" bIns="0">
            <a:spAutoFit/>
          </a:bodyPr>
          <a:lstStyle/>
          <a:p>
            <a:pPr>
              <a:spcAft>
                <a:spcPts val="200"/>
              </a:spcAft>
            </a:pPr>
            <a:r>
              <a:rPr sz="2600" b="1">
                <a:solidFill>
                  <a:srgbClr val="0F172A"/>
                </a:solidFill>
                <a:latin typeface="Calibri"/>
              </a:rPr>
              <a:t>Storage &amp; Orchestration</a:t>
            </a:r>
          </a:p>
          <a:p>
            <a:r>
              <a:rPr sz="1200">
                <a:solidFill>
                  <a:srgbClr val="475569"/>
                </a:solidFill>
                <a:latin typeface="Calibri"/>
              </a:rPr>
              <a:t>Idempotent loading and Airflow scheduling</a:t>
            </a:r>
          </a:p>
        </p:txBody>
      </p:sp>
      <p:sp>
        <p:nvSpPr>
          <p:cNvPr id="3" name="Rectangle 2"/>
          <p:cNvSpPr/>
          <p:nvPr/>
        </p:nvSpPr>
        <p:spPr>
          <a:xfrm>
            <a:off x="502920" y="1005840"/>
            <a:ext cx="11183112"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365760"/>
            <a:ext cx="731520" cy="365760"/>
          </a:xfrm>
          <a:prstGeom prst="roundRect">
            <a:avLst>
              <a:gd name="adj" fmla="val 5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475569"/>
                </a:solidFill>
                <a:latin typeface="Calibri"/>
              </a:rPr>
              <a:t>06 / 08</a:t>
            </a:r>
          </a:p>
        </p:txBody>
      </p:sp>
      <p:sp>
        <p:nvSpPr>
          <p:cNvPr id="5" name="Rounded Rectangle 4"/>
          <p:cNvSpPr/>
          <p:nvPr/>
        </p:nvSpPr>
        <p:spPr>
          <a:xfrm>
            <a:off x="548640" y="1371600"/>
            <a:ext cx="5303520" cy="4846320"/>
          </a:xfrm>
          <a:prstGeom prst="roundRect">
            <a:avLst>
              <a:gd name="adj" fmla="val 5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371600"/>
            <a:ext cx="73152" cy="4846320"/>
          </a:xfrm>
          <a:prstGeom prst="roundRect">
            <a:avLst>
              <a:gd name="adj" fmla="val 20000"/>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08760"/>
            <a:ext cx="4937759" cy="4572000"/>
          </a:xfrm>
          <a:prstGeom prst="rect">
            <a:avLst/>
          </a:prstGeom>
          <a:noFill/>
        </p:spPr>
        <p:txBody>
          <a:bodyPr wrap="square" lIns="0" tIns="0" rIns="0" bIns="0">
            <a:spAutoFit/>
          </a:bodyPr>
          <a:lstStyle/>
          <a:p>
            <a:pPr>
              <a:spcAft>
                <a:spcPts val="800"/>
              </a:spcAft>
            </a:pPr>
            <a:r>
              <a:rPr sz="1400" b="1">
                <a:solidFill>
                  <a:srgbClr val="0F172A"/>
                </a:solidFill>
                <a:latin typeface="Calibri"/>
              </a:rPr>
              <a:t>Idempotent Loading to PostgreSQL</a:t>
            </a:r>
          </a:p>
          <a:p>
            <a:pPr>
              <a:spcAft>
                <a:spcPts val="600"/>
              </a:spcAft>
            </a:pPr>
            <a:r>
              <a:rPr sz="1400" b="1">
                <a:solidFill>
                  <a:srgbClr val="2563EB"/>
                </a:solidFill>
                <a:latin typeface="Calibri"/>
              </a:rPr>
              <a:t>• </a:t>
            </a:r>
            <a:r>
              <a:rPr sz="1200" b="1">
                <a:solidFill>
                  <a:srgbClr val="0F172A"/>
                </a:solidFill>
                <a:latin typeface="Calibri"/>
              </a:rPr>
              <a:t>Process: </a:t>
            </a:r>
            <a:r>
              <a:rPr sz="1200">
                <a:solidFill>
                  <a:srgbClr val="475569"/>
                </a:solidFill>
                <a:latin typeface="Calibri"/>
              </a:rPr>
              <a:t>Airflow runs a Python loader that copies Parquet files into a PostgreSQL temp staging table.</a:t>
            </a:r>
          </a:p>
          <a:p>
            <a:pPr>
              <a:spcAft>
                <a:spcPts val="600"/>
              </a:spcAft>
            </a:pPr>
            <a:r>
              <a:rPr sz="1400" b="1">
                <a:solidFill>
                  <a:srgbClr val="2563EB"/>
                </a:solidFill>
                <a:latin typeface="Calibri"/>
              </a:rPr>
              <a:t>• </a:t>
            </a:r>
            <a:r>
              <a:rPr sz="1200" b="1">
                <a:solidFill>
                  <a:srgbClr val="0F172A"/>
                </a:solidFill>
                <a:latin typeface="Calibri"/>
              </a:rPr>
              <a:t>No Duplicates: </a:t>
            </a:r>
            <a:r>
              <a:rPr sz="1200">
                <a:solidFill>
                  <a:srgbClr val="475569"/>
                </a:solidFill>
                <a:latin typeface="Calibri"/>
              </a:rPr>
              <a:t>Uses INSERT ... ON CONFLICT DO NOTHING with composite primary keys.</a:t>
            </a:r>
          </a:p>
          <a:p>
            <a:pPr>
              <a:spcAft>
                <a:spcPts val="600"/>
              </a:spcAft>
            </a:pPr>
            <a:r>
              <a:rPr sz="1400" b="1">
                <a:solidFill>
                  <a:srgbClr val="2563EB"/>
                </a:solidFill>
                <a:latin typeface="Calibri"/>
              </a:rPr>
              <a:t>• </a:t>
            </a:r>
            <a:r>
              <a:rPr sz="1200" b="1">
                <a:solidFill>
                  <a:srgbClr val="0F172A"/>
                </a:solidFill>
                <a:latin typeface="Calibri"/>
              </a:rPr>
              <a:t>Safety: </a:t>
            </a:r>
            <a:r>
              <a:rPr sz="1200">
                <a:solidFill>
                  <a:srgbClr val="475569"/>
                </a:solidFill>
                <a:latin typeface="Calibri"/>
              </a:rPr>
              <a:t>Re-running the loader or overlapping files never duplicates data.</a:t>
            </a:r>
          </a:p>
          <a:p>
            <a:pPr>
              <a:spcAft>
                <a:spcPts val="600"/>
              </a:spcAft>
            </a:pPr>
            <a:r>
              <a:rPr sz="1400" b="1">
                <a:solidFill>
                  <a:srgbClr val="2563EB"/>
                </a:solidFill>
                <a:latin typeface="Calibri"/>
              </a:rPr>
              <a:t>• </a:t>
            </a:r>
            <a:r>
              <a:rPr sz="1200" b="1">
                <a:solidFill>
                  <a:srgbClr val="0F172A"/>
                </a:solidFill>
                <a:latin typeface="Calibri"/>
              </a:rPr>
              <a:t>Scale: </a:t>
            </a:r>
            <a:r>
              <a:rPr sz="1200">
                <a:solidFill>
                  <a:srgbClr val="475569"/>
                </a:solidFill>
                <a:latin typeface="Calibri"/>
              </a:rPr>
              <a:t>Verified on a historical snapshot of ~286k observations across 24k aircraft.</a:t>
            </a:r>
          </a:p>
        </p:txBody>
      </p:sp>
      <p:sp>
        <p:nvSpPr>
          <p:cNvPr id="8" name="Rounded Rectangle 7"/>
          <p:cNvSpPr/>
          <p:nvPr/>
        </p:nvSpPr>
        <p:spPr>
          <a:xfrm>
            <a:off x="6309360" y="1371600"/>
            <a:ext cx="5303520" cy="4846320"/>
          </a:xfrm>
          <a:prstGeom prst="roundRect">
            <a:avLst>
              <a:gd name="adj" fmla="val 5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371600"/>
            <a:ext cx="73152" cy="4846320"/>
          </a:xfrm>
          <a:prstGeom prst="roundRect">
            <a:avLst>
              <a:gd name="adj" fmla="val 20000"/>
            </a:avLst>
          </a:prstGeom>
          <a:solidFill>
            <a:srgbClr val="0596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508760"/>
            <a:ext cx="4937759" cy="4572000"/>
          </a:xfrm>
          <a:prstGeom prst="rect">
            <a:avLst/>
          </a:prstGeom>
          <a:noFill/>
        </p:spPr>
        <p:txBody>
          <a:bodyPr wrap="square" lIns="0" tIns="0" rIns="0" bIns="0">
            <a:spAutoFit/>
          </a:bodyPr>
          <a:lstStyle/>
          <a:p>
            <a:pPr>
              <a:spcAft>
                <a:spcPts val="800"/>
              </a:spcAft>
            </a:pPr>
            <a:r>
              <a:rPr sz="1400" b="1">
                <a:solidFill>
                  <a:srgbClr val="0F172A"/>
                </a:solidFill>
                <a:latin typeface="Calibri"/>
              </a:rPr>
              <a:t>Airflow Orchestration</a:t>
            </a:r>
          </a:p>
          <a:p>
            <a:pPr>
              <a:spcAft>
                <a:spcPts val="600"/>
              </a:spcAft>
            </a:pPr>
            <a:r>
              <a:rPr sz="1400" b="1">
                <a:solidFill>
                  <a:srgbClr val="059669"/>
                </a:solidFill>
                <a:latin typeface="Calibri"/>
              </a:rPr>
              <a:t>• </a:t>
            </a:r>
            <a:r>
              <a:rPr sz="1200" b="1">
                <a:solidFill>
                  <a:srgbClr val="0F172A"/>
                </a:solidFill>
                <a:latin typeface="Calibri"/>
              </a:rPr>
              <a:t>Hourly Batches: </a:t>
            </a:r>
            <a:r>
              <a:rPr sz="1200">
                <a:solidFill>
                  <a:srgbClr val="475569"/>
                </a:solidFill>
                <a:latin typeface="Calibri"/>
              </a:rPr>
              <a:t>Schedules the DB loads and runs data-quality checks.</a:t>
            </a:r>
          </a:p>
          <a:p>
            <a:pPr>
              <a:spcAft>
                <a:spcPts val="600"/>
              </a:spcAft>
            </a:pPr>
            <a:r>
              <a:rPr sz="1400" b="1">
                <a:solidFill>
                  <a:srgbClr val="059669"/>
                </a:solidFill>
                <a:latin typeface="Calibri"/>
              </a:rPr>
              <a:t>• </a:t>
            </a:r>
            <a:r>
              <a:rPr sz="1200" b="1">
                <a:solidFill>
                  <a:srgbClr val="0F172A"/>
                </a:solidFill>
                <a:latin typeface="Calibri"/>
              </a:rPr>
              <a:t>Non-Intrusive Health Checks: </a:t>
            </a:r>
            <a:r>
              <a:rPr sz="1200">
                <a:solidFill>
                  <a:srgbClr val="475569"/>
                </a:solidFill>
                <a:latin typeface="Calibri"/>
              </a:rPr>
              <a:t>Inspects Parquet file ages and Spark checkpoint commits without calling the OpenSky API.</a:t>
            </a:r>
          </a:p>
          <a:p>
            <a:pPr>
              <a:spcAft>
                <a:spcPts val="600"/>
              </a:spcAft>
            </a:pPr>
            <a:r>
              <a:rPr sz="1400" b="1">
                <a:solidFill>
                  <a:srgbClr val="059669"/>
                </a:solidFill>
                <a:latin typeface="Calibri"/>
              </a:rPr>
              <a:t>• </a:t>
            </a:r>
            <a:r>
              <a:rPr sz="1200" b="1">
                <a:solidFill>
                  <a:srgbClr val="0F172A"/>
                </a:solidFill>
                <a:latin typeface="Calibri"/>
              </a:rPr>
              <a:t>Resilient Rules: </a:t>
            </a:r>
            <a:r>
              <a:rPr sz="1200">
                <a:solidFill>
                  <a:srgbClr val="475569"/>
                </a:solidFill>
                <a:latin typeface="Calibri"/>
              </a:rPr>
              <a:t>Uses TriggerRule.ALL_DONE so data already written by Spark still loads into Postgres even if an upstream check warns.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10241280" cy="822960"/>
          </a:xfrm>
          <a:prstGeom prst="rect">
            <a:avLst/>
          </a:prstGeom>
          <a:noFill/>
        </p:spPr>
        <p:txBody>
          <a:bodyPr wrap="square" lIns="0" tIns="0" rIns="0" bIns="0">
            <a:spAutoFit/>
          </a:bodyPr>
          <a:lstStyle/>
          <a:p>
            <a:pPr>
              <a:spcAft>
                <a:spcPts val="200"/>
              </a:spcAft>
            </a:pPr>
            <a:r>
              <a:rPr sz="2600" b="1">
                <a:solidFill>
                  <a:srgbClr val="0F172A"/>
                </a:solidFill>
                <a:latin typeface="Calibri"/>
              </a:rPr>
              <a:t>Analytics &amp; Machine Learning</a:t>
            </a:r>
          </a:p>
          <a:p>
            <a:r>
              <a:rPr sz="1200">
                <a:solidFill>
                  <a:srgbClr val="475569"/>
                </a:solidFill>
                <a:latin typeface="Calibri"/>
              </a:rPr>
              <a:t>From raw SQL to Anomaly Detection</a:t>
            </a:r>
          </a:p>
        </p:txBody>
      </p:sp>
      <p:sp>
        <p:nvSpPr>
          <p:cNvPr id="3" name="Rectangle 2"/>
          <p:cNvSpPr/>
          <p:nvPr/>
        </p:nvSpPr>
        <p:spPr>
          <a:xfrm>
            <a:off x="502920" y="1005840"/>
            <a:ext cx="11183112"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365760"/>
            <a:ext cx="731520" cy="365760"/>
          </a:xfrm>
          <a:prstGeom prst="roundRect">
            <a:avLst>
              <a:gd name="adj" fmla="val 5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475569"/>
                </a:solidFill>
                <a:latin typeface="Calibri"/>
              </a:rPr>
              <a:t>07 / 08</a:t>
            </a:r>
          </a:p>
        </p:txBody>
      </p:sp>
      <p:sp>
        <p:nvSpPr>
          <p:cNvPr id="5" name="Rounded Rectangle 4"/>
          <p:cNvSpPr/>
          <p:nvPr/>
        </p:nvSpPr>
        <p:spPr>
          <a:xfrm>
            <a:off x="548640" y="1371600"/>
            <a:ext cx="5303520" cy="4846320"/>
          </a:xfrm>
          <a:prstGeom prst="roundRect">
            <a:avLst>
              <a:gd name="adj" fmla="val 5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371600"/>
            <a:ext cx="73152" cy="4846320"/>
          </a:xfrm>
          <a:prstGeom prst="roundRect">
            <a:avLst>
              <a:gd name="adj" fmla="val 20000"/>
            </a:avLst>
          </a:prstGeom>
          <a:solidFill>
            <a:srgbClr val="E11D4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08760"/>
            <a:ext cx="4937759" cy="4572000"/>
          </a:xfrm>
          <a:prstGeom prst="rect">
            <a:avLst/>
          </a:prstGeom>
          <a:noFill/>
        </p:spPr>
        <p:txBody>
          <a:bodyPr wrap="square" lIns="0" tIns="0" rIns="0" bIns="0">
            <a:spAutoFit/>
          </a:bodyPr>
          <a:lstStyle/>
          <a:p>
            <a:pPr>
              <a:spcAft>
                <a:spcPts val="800"/>
              </a:spcAft>
            </a:pPr>
            <a:r>
              <a:rPr sz="1400" b="1">
                <a:solidFill>
                  <a:srgbClr val="0F172A"/>
                </a:solidFill>
                <a:latin typeface="Calibri"/>
              </a:rPr>
              <a:t>SQL Analytics &amp; UI</a:t>
            </a:r>
          </a:p>
          <a:p>
            <a:pPr>
              <a:spcAft>
                <a:spcPts val="600"/>
              </a:spcAft>
            </a:pPr>
            <a:r>
              <a:rPr sz="1400" b="1">
                <a:solidFill>
                  <a:srgbClr val="E11D48"/>
                </a:solidFill>
                <a:latin typeface="Calibri"/>
              </a:rPr>
              <a:t>• </a:t>
            </a:r>
            <a:r>
              <a:rPr sz="1200" b="1">
                <a:solidFill>
                  <a:srgbClr val="0F172A"/>
                </a:solidFill>
                <a:latin typeface="Calibri"/>
              </a:rPr>
              <a:t>Views: </a:t>
            </a:r>
            <a:r>
              <a:rPr sz="1200">
                <a:solidFill>
                  <a:srgbClr val="475569"/>
                </a:solidFill>
                <a:latin typeface="Calibri"/>
              </a:rPr>
              <a:t>8 analytical views (e.g., activity by country, current status) powered by PostgreSQL.</a:t>
            </a:r>
          </a:p>
          <a:p>
            <a:pPr>
              <a:spcAft>
                <a:spcPts val="600"/>
              </a:spcAft>
            </a:pPr>
            <a:r>
              <a:rPr sz="1400" b="1">
                <a:solidFill>
                  <a:srgbClr val="E11D48"/>
                </a:solidFill>
                <a:latin typeface="Calibri"/>
              </a:rPr>
              <a:t>• </a:t>
            </a:r>
            <a:r>
              <a:rPr sz="1200" b="1">
                <a:solidFill>
                  <a:srgbClr val="0F172A"/>
                </a:solidFill>
                <a:latin typeface="Calibri"/>
              </a:rPr>
              <a:t>Plausibility Limits: </a:t>
            </a:r>
            <a:r>
              <a:rPr sz="1200">
                <a:solidFill>
                  <a:srgbClr val="475569"/>
                </a:solidFill>
                <a:latin typeface="Calibri"/>
              </a:rPr>
              <a:t>SQL views filter out sensor spikes (&gt;400 m/s) before calculating averages.</a:t>
            </a:r>
          </a:p>
          <a:p>
            <a:pPr>
              <a:spcAft>
                <a:spcPts val="600"/>
              </a:spcAft>
            </a:pPr>
            <a:r>
              <a:rPr sz="1400" b="1">
                <a:solidFill>
                  <a:srgbClr val="E11D48"/>
                </a:solidFill>
                <a:latin typeface="Calibri"/>
              </a:rPr>
              <a:t>• </a:t>
            </a:r>
            <a:r>
              <a:rPr sz="1200" b="1">
                <a:solidFill>
                  <a:srgbClr val="0F172A"/>
                </a:solidFill>
                <a:latin typeface="Calibri"/>
              </a:rPr>
              <a:t>DQ Audits: </a:t>
            </a:r>
            <a:r>
              <a:rPr sz="1200">
                <a:solidFill>
                  <a:srgbClr val="475569"/>
                </a:solidFill>
                <a:latin typeface="Calibri"/>
              </a:rPr>
              <a:t>15 SQL data-quality checks run hourly, logging errors and warnings into a history table.</a:t>
            </a:r>
          </a:p>
          <a:p>
            <a:pPr>
              <a:spcAft>
                <a:spcPts val="600"/>
              </a:spcAft>
            </a:pPr>
            <a:r>
              <a:rPr sz="1400" b="1">
                <a:solidFill>
                  <a:srgbClr val="E11D48"/>
                </a:solidFill>
                <a:latin typeface="Calibri"/>
              </a:rPr>
              <a:t>• </a:t>
            </a:r>
            <a:r>
              <a:rPr sz="1200" b="1">
                <a:solidFill>
                  <a:srgbClr val="0F172A"/>
                </a:solidFill>
                <a:latin typeface="Calibri"/>
              </a:rPr>
              <a:t>Streamlit Dashboard: </a:t>
            </a:r>
            <a:r>
              <a:rPr sz="1200">
                <a:solidFill>
                  <a:srgbClr val="475569"/>
                </a:solidFill>
                <a:latin typeface="Calibri"/>
              </a:rPr>
              <a:t>6-page read-only UI for exploring live data and historical tracks.</a:t>
            </a:r>
          </a:p>
        </p:txBody>
      </p:sp>
      <p:sp>
        <p:nvSpPr>
          <p:cNvPr id="8" name="Rounded Rectangle 7"/>
          <p:cNvSpPr/>
          <p:nvPr/>
        </p:nvSpPr>
        <p:spPr>
          <a:xfrm>
            <a:off x="6309360" y="1371600"/>
            <a:ext cx="5303520" cy="4846320"/>
          </a:xfrm>
          <a:prstGeom prst="roundRect">
            <a:avLst>
              <a:gd name="adj" fmla="val 5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371600"/>
            <a:ext cx="73152" cy="4846320"/>
          </a:xfrm>
          <a:prstGeom prst="roundRect">
            <a:avLst>
              <a:gd name="adj" fmla="val 20000"/>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508760"/>
            <a:ext cx="4937759" cy="4572000"/>
          </a:xfrm>
          <a:prstGeom prst="rect">
            <a:avLst/>
          </a:prstGeom>
          <a:noFill/>
        </p:spPr>
        <p:txBody>
          <a:bodyPr wrap="square" lIns="0" tIns="0" rIns="0" bIns="0">
            <a:spAutoFit/>
          </a:bodyPr>
          <a:lstStyle/>
          <a:p>
            <a:pPr>
              <a:spcAft>
                <a:spcPts val="800"/>
              </a:spcAft>
            </a:pPr>
            <a:r>
              <a:rPr sz="1400" b="1">
                <a:solidFill>
                  <a:srgbClr val="0F172A"/>
                </a:solidFill>
                <a:latin typeface="Calibri"/>
              </a:rPr>
              <a:t>Isolation Forest ML</a:t>
            </a:r>
          </a:p>
          <a:p>
            <a:pPr>
              <a:spcAft>
                <a:spcPts val="600"/>
              </a:spcAft>
            </a:pPr>
            <a:r>
              <a:rPr sz="1400" b="1">
                <a:solidFill>
                  <a:srgbClr val="7C3AED"/>
                </a:solidFill>
                <a:latin typeface="Calibri"/>
              </a:rPr>
              <a:t>• </a:t>
            </a:r>
            <a:r>
              <a:rPr sz="1200" b="1">
                <a:solidFill>
                  <a:srgbClr val="0F172A"/>
                </a:solidFill>
                <a:latin typeface="Calibri"/>
              </a:rPr>
              <a:t>Purpose: </a:t>
            </a:r>
            <a:r>
              <a:rPr sz="1200">
                <a:solidFill>
                  <a:srgbClr val="475569"/>
                </a:solidFill>
                <a:latin typeface="Calibri"/>
              </a:rPr>
              <a:t>Detects statistically unusual combinations of altitude, speed, and track using scikit-learn Isolation Forest.</a:t>
            </a:r>
          </a:p>
          <a:p>
            <a:pPr>
              <a:spcAft>
                <a:spcPts val="600"/>
              </a:spcAft>
            </a:pPr>
            <a:r>
              <a:rPr sz="1400" b="1">
                <a:solidFill>
                  <a:srgbClr val="7C3AED"/>
                </a:solidFill>
                <a:latin typeface="Calibri"/>
              </a:rPr>
              <a:t>• </a:t>
            </a:r>
            <a:r>
              <a:rPr sz="1200" b="1">
                <a:solidFill>
                  <a:srgbClr val="0F172A"/>
                </a:solidFill>
                <a:latin typeface="Calibri"/>
              </a:rPr>
              <a:t>Features: </a:t>
            </a:r>
            <a:r>
              <a:rPr sz="1200">
                <a:solidFill>
                  <a:srgbClr val="475569"/>
                </a:solidFill>
                <a:latin typeface="Calibri"/>
              </a:rPr>
              <a:t>Uses 12 inputs (6 kinematics + 6 missing value flags).</a:t>
            </a:r>
          </a:p>
          <a:p>
            <a:pPr>
              <a:spcAft>
                <a:spcPts val="600"/>
              </a:spcAft>
            </a:pPr>
            <a:r>
              <a:rPr sz="1400" b="1">
                <a:solidFill>
                  <a:srgbClr val="7C3AED"/>
                </a:solidFill>
                <a:latin typeface="Calibri"/>
              </a:rPr>
              <a:t>• </a:t>
            </a:r>
            <a:r>
              <a:rPr sz="1200" b="1">
                <a:solidFill>
                  <a:srgbClr val="0F172A"/>
                </a:solidFill>
                <a:latin typeface="Calibri"/>
              </a:rPr>
              <a:t>Scoring: </a:t>
            </a:r>
            <a:r>
              <a:rPr sz="1200">
                <a:solidFill>
                  <a:srgbClr val="475569"/>
                </a:solidFill>
                <a:latin typeface="Calibri"/>
              </a:rPr>
              <a:t>Airflow scores new data hourly. Predictions are written safely using DB locks and composite keys.</a:t>
            </a:r>
          </a:p>
          <a:p>
            <a:pPr>
              <a:spcAft>
                <a:spcPts val="600"/>
              </a:spcAft>
            </a:pPr>
            <a:r>
              <a:rPr sz="1400" b="1">
                <a:solidFill>
                  <a:srgbClr val="7C3AED"/>
                </a:solidFill>
                <a:latin typeface="Calibri"/>
              </a:rPr>
              <a:t>• </a:t>
            </a:r>
            <a:r>
              <a:rPr sz="1200" b="1">
                <a:solidFill>
                  <a:srgbClr val="0F172A"/>
                </a:solidFill>
                <a:latin typeface="Calibri"/>
              </a:rPr>
              <a:t>Isolation: </a:t>
            </a:r>
            <a:r>
              <a:rPr sz="1200">
                <a:solidFill>
                  <a:srgbClr val="475569"/>
                </a:solidFill>
                <a:latin typeface="Calibri"/>
              </a:rPr>
              <a:t>Runs in a dedicated virtualenv so ML dependencies never conflict with Airflow.</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502920" y="182880"/>
            <a:ext cx="10241280" cy="822960"/>
          </a:xfrm>
          <a:prstGeom prst="rect">
            <a:avLst/>
          </a:prstGeom>
          <a:noFill/>
        </p:spPr>
        <p:txBody>
          <a:bodyPr wrap="square" lIns="0" tIns="0" rIns="0" bIns="0">
            <a:spAutoFit/>
          </a:bodyPr>
          <a:lstStyle/>
          <a:p>
            <a:pPr>
              <a:spcAft>
                <a:spcPts val="200"/>
              </a:spcAft>
            </a:pPr>
            <a:r>
              <a:rPr sz="2600" b="1">
                <a:solidFill>
                  <a:srgbClr val="0F172A"/>
                </a:solidFill>
                <a:latin typeface="Calibri"/>
              </a:rPr>
              <a:t>Conclusion &amp; Future Improvements</a:t>
            </a:r>
          </a:p>
          <a:p>
            <a:r>
              <a:rPr sz="1200">
                <a:solidFill>
                  <a:srgbClr val="475569"/>
                </a:solidFill>
                <a:latin typeface="Calibri"/>
              </a:rPr>
              <a:t>Platform outcomes and next steps</a:t>
            </a:r>
          </a:p>
        </p:txBody>
      </p:sp>
      <p:sp>
        <p:nvSpPr>
          <p:cNvPr id="3" name="Rectangle 2"/>
          <p:cNvSpPr/>
          <p:nvPr/>
        </p:nvSpPr>
        <p:spPr>
          <a:xfrm>
            <a:off x="502920" y="1005840"/>
            <a:ext cx="11183112" cy="18288"/>
          </a:xfrm>
          <a:prstGeom prst="rect">
            <a:avLst/>
          </a:prstGeom>
          <a:solidFill>
            <a:srgbClr val="CBD5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0972800" y="365760"/>
            <a:ext cx="731520" cy="365760"/>
          </a:xfrm>
          <a:prstGeom prst="roundRect">
            <a:avLst>
              <a:gd name="adj" fmla="val 5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100" b="1">
                <a:solidFill>
                  <a:srgbClr val="475569"/>
                </a:solidFill>
                <a:latin typeface="Calibri"/>
              </a:rPr>
              <a:t>08 / 08</a:t>
            </a:r>
          </a:p>
        </p:txBody>
      </p:sp>
      <p:sp>
        <p:nvSpPr>
          <p:cNvPr id="5" name="Rounded Rectangle 4"/>
          <p:cNvSpPr/>
          <p:nvPr/>
        </p:nvSpPr>
        <p:spPr>
          <a:xfrm>
            <a:off x="548640" y="1371600"/>
            <a:ext cx="5303520" cy="3200400"/>
          </a:xfrm>
          <a:prstGeom prst="roundRect">
            <a:avLst>
              <a:gd name="adj" fmla="val 5000"/>
            </a:avLst>
          </a:prstGeom>
          <a:solidFill>
            <a:srgbClr val="FFFFFF"/>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48640" y="1371600"/>
            <a:ext cx="73152" cy="3200400"/>
          </a:xfrm>
          <a:prstGeom prst="roundRect">
            <a:avLst>
              <a:gd name="adj" fmla="val 20000"/>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508760"/>
            <a:ext cx="4937759" cy="2926080"/>
          </a:xfrm>
          <a:prstGeom prst="rect">
            <a:avLst/>
          </a:prstGeom>
          <a:noFill/>
        </p:spPr>
        <p:txBody>
          <a:bodyPr wrap="square" lIns="0" tIns="0" rIns="0" bIns="0">
            <a:spAutoFit/>
          </a:bodyPr>
          <a:lstStyle/>
          <a:p>
            <a:pPr>
              <a:spcAft>
                <a:spcPts val="800"/>
              </a:spcAft>
            </a:pPr>
            <a:r>
              <a:rPr sz="1400" b="1">
                <a:solidFill>
                  <a:srgbClr val="0F172A"/>
                </a:solidFill>
                <a:latin typeface="Calibri"/>
              </a:rPr>
              <a:t>Platform Outcomes</a:t>
            </a:r>
          </a:p>
          <a:p>
            <a:pPr>
              <a:spcAft>
                <a:spcPts val="600"/>
              </a:spcAft>
            </a:pPr>
            <a:r>
              <a:rPr sz="1300" b="1">
                <a:solidFill>
                  <a:srgbClr val="0284C7"/>
                </a:solidFill>
                <a:latin typeface="Calibri"/>
              </a:rPr>
              <a:t>• </a:t>
            </a:r>
            <a:r>
              <a:rPr sz="1100" b="1">
                <a:solidFill>
                  <a:srgbClr val="0F172A"/>
                </a:solidFill>
                <a:latin typeface="Calibri"/>
              </a:rPr>
              <a:t>End-to-End Resilience: </a:t>
            </a:r>
            <a:r>
              <a:rPr sz="1100">
                <a:solidFill>
                  <a:srgbClr val="475569"/>
                </a:solidFill>
                <a:latin typeface="Calibri"/>
              </a:rPr>
              <a:t>Built a fully containerized pipeline that survives restarts, API rate limits, and network drops.</a:t>
            </a:r>
          </a:p>
          <a:p>
            <a:pPr>
              <a:spcAft>
                <a:spcPts val="600"/>
              </a:spcAft>
            </a:pPr>
            <a:r>
              <a:rPr sz="1300" b="1">
                <a:solidFill>
                  <a:srgbClr val="0284C7"/>
                </a:solidFill>
                <a:latin typeface="Calibri"/>
              </a:rPr>
              <a:t>• </a:t>
            </a:r>
            <a:r>
              <a:rPr sz="1100" b="1">
                <a:solidFill>
                  <a:srgbClr val="0F172A"/>
                </a:solidFill>
                <a:latin typeface="Calibri"/>
              </a:rPr>
              <a:t>Data Integrity: </a:t>
            </a:r>
            <a:r>
              <a:rPr sz="1100">
                <a:solidFill>
                  <a:srgbClr val="475569"/>
                </a:solidFill>
                <a:latin typeface="Calibri"/>
              </a:rPr>
              <a:t>Enforced explicit schemas, NaN-safe deduplication, and idempotent database writes.</a:t>
            </a:r>
          </a:p>
          <a:p>
            <a:pPr>
              <a:spcAft>
                <a:spcPts val="600"/>
              </a:spcAft>
            </a:pPr>
            <a:r>
              <a:rPr sz="1300" b="1">
                <a:solidFill>
                  <a:srgbClr val="0284C7"/>
                </a:solidFill>
                <a:latin typeface="Calibri"/>
              </a:rPr>
              <a:t>• </a:t>
            </a:r>
            <a:r>
              <a:rPr sz="1100" b="1">
                <a:solidFill>
                  <a:srgbClr val="0F172A"/>
                </a:solidFill>
                <a:latin typeface="Calibri"/>
              </a:rPr>
              <a:t>Observability: </a:t>
            </a:r>
            <a:r>
              <a:rPr sz="1100">
                <a:solidFill>
                  <a:srgbClr val="475569"/>
                </a:solidFill>
                <a:latin typeface="Calibri"/>
              </a:rPr>
              <a:t>Monitored via 38 Grafana panels and a 6-page interactive Streamlit dashboard.</a:t>
            </a:r>
          </a:p>
        </p:txBody>
      </p:sp>
      <p:sp>
        <p:nvSpPr>
          <p:cNvPr id="8" name="Rounded Rectangle 7"/>
          <p:cNvSpPr/>
          <p:nvPr/>
        </p:nvSpPr>
        <p:spPr>
          <a:xfrm>
            <a:off x="6309360" y="1371600"/>
            <a:ext cx="5303520" cy="3200400"/>
          </a:xfrm>
          <a:prstGeom prst="roundRect">
            <a:avLst>
              <a:gd name="adj" fmla="val 5000"/>
            </a:avLst>
          </a:prstGeom>
          <a:solidFill>
            <a:srgbClr val="F1F5F9"/>
          </a:solidFill>
          <a:ln w="12700">
            <a:solidFill>
              <a:srgbClr val="CBD5E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6309360" y="1371600"/>
            <a:ext cx="73152" cy="3200400"/>
          </a:xfrm>
          <a:prstGeom prst="roundRect">
            <a:avLst>
              <a:gd name="adj" fmla="val 20000"/>
            </a:avLst>
          </a:prstGeom>
          <a:solidFill>
            <a:srgbClr val="4755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37960" y="1508760"/>
            <a:ext cx="4937759" cy="2926080"/>
          </a:xfrm>
          <a:prstGeom prst="rect">
            <a:avLst/>
          </a:prstGeom>
          <a:noFill/>
        </p:spPr>
        <p:txBody>
          <a:bodyPr wrap="square" lIns="0" tIns="0" rIns="0" bIns="0">
            <a:spAutoFit/>
          </a:bodyPr>
          <a:lstStyle/>
          <a:p>
            <a:pPr>
              <a:spcAft>
                <a:spcPts val="800"/>
              </a:spcAft>
            </a:pPr>
            <a:r>
              <a:rPr sz="1400" b="1">
                <a:solidFill>
                  <a:srgbClr val="0F172A"/>
                </a:solidFill>
                <a:latin typeface="Calibri"/>
              </a:rPr>
              <a:t>Future Roadmap</a:t>
            </a:r>
          </a:p>
          <a:p>
            <a:pPr>
              <a:spcAft>
                <a:spcPts val="600"/>
              </a:spcAft>
            </a:pPr>
            <a:r>
              <a:rPr sz="1300" b="1">
                <a:solidFill>
                  <a:srgbClr val="475569"/>
                </a:solidFill>
                <a:latin typeface="Calibri"/>
              </a:rPr>
              <a:t>• </a:t>
            </a:r>
            <a:r>
              <a:rPr sz="1100" b="1">
                <a:solidFill>
                  <a:srgbClr val="0F172A"/>
                </a:solidFill>
                <a:latin typeface="Calibri"/>
              </a:rPr>
              <a:t>Data Lakehouse: </a:t>
            </a:r>
            <a:r>
              <a:rPr sz="1100">
                <a:solidFill>
                  <a:srgbClr val="475569"/>
                </a:solidFill>
                <a:latin typeface="Calibri"/>
              </a:rPr>
              <a:t>Migrate Parquet storage to Apache Iceberg or Delta Lake for ACID table management.</a:t>
            </a:r>
          </a:p>
          <a:p>
            <a:pPr>
              <a:spcAft>
                <a:spcPts val="600"/>
              </a:spcAft>
            </a:pPr>
            <a:r>
              <a:rPr sz="1300" b="1">
                <a:solidFill>
                  <a:srgbClr val="475569"/>
                </a:solidFill>
                <a:latin typeface="Calibri"/>
              </a:rPr>
              <a:t>• </a:t>
            </a:r>
            <a:r>
              <a:rPr sz="1100" b="1">
                <a:solidFill>
                  <a:srgbClr val="0F172A"/>
                </a:solidFill>
                <a:latin typeface="Calibri"/>
              </a:rPr>
              <a:t>Trajectory ML: </a:t>
            </a:r>
            <a:r>
              <a:rPr sz="1100">
                <a:solidFill>
                  <a:srgbClr val="475569"/>
                </a:solidFill>
                <a:latin typeface="Calibri"/>
              </a:rPr>
              <a:t>Expand anomaly detection from single-point kinematics to full flight-path trajectories.</a:t>
            </a:r>
          </a:p>
          <a:p>
            <a:pPr>
              <a:spcAft>
                <a:spcPts val="600"/>
              </a:spcAft>
            </a:pPr>
            <a:r>
              <a:rPr sz="1300" b="1">
                <a:solidFill>
                  <a:srgbClr val="475569"/>
                </a:solidFill>
                <a:latin typeface="Calibri"/>
              </a:rPr>
              <a:t>• </a:t>
            </a:r>
            <a:r>
              <a:rPr sz="1100" b="1">
                <a:solidFill>
                  <a:srgbClr val="0F172A"/>
                </a:solidFill>
                <a:latin typeface="Calibri"/>
              </a:rPr>
              <a:t>CI/CD Testing: </a:t>
            </a:r>
            <a:r>
              <a:rPr sz="1100">
                <a:solidFill>
                  <a:srgbClr val="475569"/>
                </a:solidFill>
                <a:latin typeface="Calibri"/>
              </a:rPr>
              <a:t>Automate the existing 34 Python unit and contract tests in GitHub Actions.</a:t>
            </a:r>
          </a:p>
        </p:txBody>
      </p:sp>
      <p:sp>
        <p:nvSpPr>
          <p:cNvPr id="11" name="TextBox 10"/>
          <p:cNvSpPr txBox="1"/>
          <p:nvPr/>
        </p:nvSpPr>
        <p:spPr>
          <a:xfrm>
            <a:off x="548640" y="4846320"/>
            <a:ext cx="11064240" cy="914400"/>
          </a:xfrm>
          <a:prstGeom prst="rect">
            <a:avLst/>
          </a:prstGeom>
          <a:noFill/>
        </p:spPr>
        <p:txBody>
          <a:bodyPr wrap="square">
            <a:spAutoFit/>
          </a:bodyPr>
          <a:lstStyle/>
          <a:p>
            <a:r>
              <a:rPr sz="1400" b="1">
                <a:solidFill>
                  <a:srgbClr val="0F172A"/>
                </a:solidFill>
                <a:latin typeface="Calibri"/>
              </a:rPr>
              <a:t>Through this project, I demonstrated how to take a noisy, rate-limited external feed and engineer a resilient data platform where every stage—from streaming to storage and ML—is built with explicit contracts and operational honesty.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